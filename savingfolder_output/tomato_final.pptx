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ctrTitle"/>
          </p:nvPr>
        </p:nvSpPr>
        <p:spPr/>
        <p:txBody>
          <a:bodyPr/>
          <a:lstStyle/>
          <a:p>
            <a:r>
              <a:rPr sz="4400" b="1">
                <a:solidFill>
                  <a:srgbClr val="FFDF80"/>
                </a:solidFill>
              </a:rPr>
              <a:t>The Science and Evolution of Tomato</a:t>
            </a:r>
          </a:p>
        </p:txBody>
      </p:sp>
      <p:sp>
        <p:nvSpPr>
          <p:cNvPr id="3" name="Subtitle 2"/>
          <p:cNvSpPr>
            <a:spLocks noGrp="1"/>
          </p:cNvSpPr>
          <p:nvPr>
            <p:ph type="subTitle" idx="1"/>
          </p:nvPr>
        </p:nvSpPr>
        <p:spPr/>
        <p:txBody>
          <a:bodyPr/>
          <a:lstStyle/>
          <a:p>
            <a:r>
              <a:rPr sz="1800">
                <a:solidFill>
                  <a:srgbClr val="6496C8"/>
                </a:solidFill>
              </a:rPr>
              <a:t>Generated by MDP Auto-PPT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FFDF80"/>
                </a:solidFill>
              </a:rPr>
              <a:t>Origins and Taxonomy</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DCE6F0"/>
                </a:solidFill>
              </a:rPr>
              <a:t>Tomatoes originated in South America, with the wild ancestor Solanum pimpinellifolium found in the Andes mountains, illustrating how 'Origins and Taxonomy' applies to this crop.</a:t>
            </a:r>
          </a:p>
          <a:p>
            <a:pPr/>
            <a:r>
              <a:rPr sz="1800">
                <a:solidFill>
                  <a:srgbClr val="DCE6F0"/>
                </a:solidFill>
              </a:rPr>
              <a:t>Tomato plants exhibit determinate and indeterminate growth habits, representing measurable traits that reflect their taxonomic classification within the Solanaceae family.</a:t>
            </a:r>
          </a:p>
          <a:p>
            <a:pPr/>
            <a:r>
              <a:rPr sz="1800">
                <a:solidFill>
                  <a:srgbClr val="DCE6F0"/>
                </a:solidFill>
              </a:rPr>
              <a:t>Tomatoes are closely related to potatoes, sharing the same genus (Solanum), but differ in that tomatoes are typically consumed as a fruit while potatoes are grown for their starchy tubers.</a:t>
            </a:r>
          </a:p>
          <a:p>
            <a:pPr/>
            <a:r>
              <a:rPr sz="1800">
                <a:solidFill>
                  <a:srgbClr val="DCE6F0"/>
                </a:solidFill>
              </a:rPr>
              <a:t>A challenge for tomato 'Origins and Taxonomy' is the wide genetic diversity, which can complicate breeding efforts, while an opportunity lies in leveraging this diversity to develop new cultivars adapted to diverse environments.</a:t>
            </a:r>
          </a:p>
          <a:p>
            <a:pPr/>
            <a:r>
              <a:rPr sz="1800">
                <a:solidFill>
                  <a:srgbClr val="DCE6F0"/>
                </a:solidFill>
              </a:rPr>
              <a:t>Tomatoes were reclassified from the Lycopersicon genus to the Solanum genus in the 1700s, reflecting the scientific understanding of their evolutionary relationship to other nightshade species.</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FFDF80"/>
                </a:solidFill>
              </a:rPr>
              <a:t>Physiological &amp; Structural Features</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DCE6F0"/>
                </a:solidFill>
              </a:rPr>
              <a:t>Tomatoes are herbaceous, annual plants that belong to the nightshade family, Solanaceae.</a:t>
            </a:r>
          </a:p>
          <a:p>
            <a:pPr/>
            <a:r>
              <a:rPr sz="1800">
                <a:solidFill>
                  <a:srgbClr val="DCE6F0"/>
                </a:solidFill>
              </a:rPr>
              <a:t>The tomato plant has a stem, leaves, flowers, and fruit, with the fruit being the edible part commonly referred to as a 'tomato'.</a:t>
            </a:r>
          </a:p>
          <a:p>
            <a:pPr/>
            <a:r>
              <a:rPr sz="1800">
                <a:solidFill>
                  <a:srgbClr val="DCE6F0"/>
                </a:solidFill>
              </a:rPr>
              <a:t>Tomato plants have a deep, fibrous root system that helps them absorb water and nutrients from the soil effectively.</a:t>
            </a:r>
          </a:p>
          <a:p>
            <a:pPr/>
            <a:r>
              <a:rPr sz="1800">
                <a:solidFill>
                  <a:srgbClr val="DCE6F0"/>
                </a:solidFill>
              </a:rPr>
              <a:t>The leaves of the tomato plant are compound, with leaflets that are typically dark green and have a hairy texture.</a:t>
            </a:r>
          </a:p>
          <a:p>
            <a:pPr/>
            <a:r>
              <a:rPr sz="1800">
                <a:solidFill>
                  <a:srgbClr val="DCE6F0"/>
                </a:solidFill>
              </a:rPr>
              <a:t>Tomato flowers are typically yellow in color and have five petals, and the fruit develops from the ovary of the flower.</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FFDF80"/>
                </a:solidFill>
              </a:rPr>
              <a:t>Biological Growth &amp; Lifecycle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DCE6F0"/>
                </a:solidFill>
              </a:rPr>
              <a:t>Tomatoes are members of the nightshade family, Solanaceae, which includes other plants such as potatoes, eggplants, and peppers.</a:t>
            </a:r>
          </a:p>
          <a:p>
            <a:pPr/>
            <a:r>
              <a:rPr sz="1800">
                <a:solidFill>
                  <a:srgbClr val="DCE6F0"/>
                </a:solidFill>
              </a:rPr>
              <a:t>The tomato plant is an annual, meaning it completes its entire life cycle within one growing season.</a:t>
            </a:r>
          </a:p>
          <a:p>
            <a:pPr/>
            <a:r>
              <a:rPr sz="1800">
                <a:solidFill>
                  <a:srgbClr val="DCE6F0"/>
                </a:solidFill>
              </a:rPr>
              <a:t>Tomato seeds germinate and sprout into seedlings, which then develop into mature plants with stems, leaves, and flowers.</a:t>
            </a:r>
          </a:p>
          <a:p>
            <a:pPr/>
            <a:r>
              <a:rPr sz="1800">
                <a:solidFill>
                  <a:srgbClr val="DCE6F0"/>
                </a:solidFill>
              </a:rPr>
              <a:t>The flowers of the tomato plant produce fruit, which is botanically classified as a berry and contains seeds.</a:t>
            </a:r>
          </a:p>
          <a:p>
            <a:pPr/>
            <a:r>
              <a:rPr sz="1800">
                <a:solidFill>
                  <a:srgbClr val="DCE6F0"/>
                </a:solidFill>
              </a:rPr>
              <a:t>Tomato plants typically reach a height of 1-3 meters and can produce fruit for several months during the growing season.</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FFDF80"/>
                </a:solidFill>
              </a:rPr>
              <a:t>Ecological &amp; Environmental Roles</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DCE6F0"/>
                </a:solidFill>
              </a:rPr>
              <a:t>Tomatoes play a crucial role in maintaining soil health by fixing nitrogen and improving soil structure.</a:t>
            </a:r>
          </a:p>
          <a:p>
            <a:pPr/>
            <a:r>
              <a:rPr sz="1800">
                <a:solidFill>
                  <a:srgbClr val="DCE6F0"/>
                </a:solidFill>
              </a:rPr>
              <a:t>Tomato plants help regulate the local microclimate by providing shade and reducing soil evaporation.</a:t>
            </a:r>
          </a:p>
          <a:p>
            <a:pPr/>
            <a:r>
              <a:rPr sz="1800">
                <a:solidFill>
                  <a:srgbClr val="DCE6F0"/>
                </a:solidFill>
              </a:rPr>
              <a:t>Tomato flowers attract a variety of pollinators, such as bees and butterflies, supporting biodiversity.</a:t>
            </a:r>
          </a:p>
          <a:p>
            <a:pPr/>
            <a:r>
              <a:rPr sz="1800">
                <a:solidFill>
                  <a:srgbClr val="DCE6F0"/>
                </a:solidFill>
              </a:rPr>
              <a:t>Tomato plants can be used as a natural pest control method, deterring certain insects from nearby crops.</a:t>
            </a:r>
          </a:p>
          <a:p>
            <a:pPr/>
            <a:r>
              <a:rPr sz="1800">
                <a:solidFill>
                  <a:srgbClr val="DCE6F0"/>
                </a:solidFill>
              </a:rPr>
              <a:t>Tomato plants contribute to carbon sequestration, helping to mitigate the effects of climate change.</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FFDF80"/>
                </a:solidFill>
              </a:rPr>
              <a:t>Industrial &amp; Societal Impact</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DCE6F0"/>
                </a:solidFill>
              </a:rPr>
              <a:t>Tomatoes are a major agricultural crop, with global production exceeding 182 million metric tons annually.</a:t>
            </a:r>
          </a:p>
          <a:p>
            <a:pPr/>
            <a:r>
              <a:rPr sz="1800">
                <a:solidFill>
                  <a:srgbClr val="DCE6F0"/>
                </a:solidFill>
              </a:rPr>
              <a:t>The tomato industry generates significant economic activity, with an estimated global market value of over $60 billion.</a:t>
            </a:r>
          </a:p>
          <a:p>
            <a:pPr/>
            <a:r>
              <a:rPr sz="1800">
                <a:solidFill>
                  <a:srgbClr val="DCE6F0"/>
                </a:solidFill>
              </a:rPr>
              <a:t>Tomatoes are a staple ingredient in many cuisines worldwide, contributing to the culinary and cultural identity of various regions.</a:t>
            </a:r>
          </a:p>
          <a:p>
            <a:pPr/>
            <a:r>
              <a:rPr sz="1800">
                <a:solidFill>
                  <a:srgbClr val="DCE6F0"/>
                </a:solidFill>
              </a:rPr>
              <a:t>Advancements in tomato cultivation, processing, and distribution have enabled year-round availability and accessibility of this versatile fruit.</a:t>
            </a:r>
          </a:p>
          <a:p>
            <a:pPr/>
            <a:r>
              <a:rPr sz="1800">
                <a:solidFill>
                  <a:srgbClr val="DCE6F0"/>
                </a:solidFill>
              </a:rPr>
              <a:t>The tomato industry supports numerous jobs, from farming and processing to transportation and retail, contributing to local and global employment.</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FFDF80"/>
                </a:solidFill>
              </a:rPr>
              <a:t>Future Research &amp; Conservation Directions</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DCE6F0"/>
                </a:solidFill>
              </a:rPr>
              <a:t>Researchers are exploring the potential of tomato plants to adapt to climate change and thrive in diverse environments.</a:t>
            </a:r>
          </a:p>
          <a:p>
            <a:pPr/>
            <a:r>
              <a:rPr sz="1800">
                <a:solidFill>
                  <a:srgbClr val="DCE6F0"/>
                </a:solidFill>
              </a:rPr>
              <a:t>Conservation efforts aim to preserve the genetic diversity of wild tomato species to ensure the long-term sustainability of the crop.</a:t>
            </a:r>
          </a:p>
          <a:p>
            <a:pPr/>
            <a:r>
              <a:rPr sz="1800">
                <a:solidFill>
                  <a:srgbClr val="DCE6F0"/>
                </a:solidFill>
              </a:rPr>
              <a:t>Future studies will investigate the nutritional and medicinal properties of lesser-known tomato varieties to expand their commercial and health applications.</a:t>
            </a:r>
          </a:p>
          <a:p>
            <a:pPr/>
            <a:r>
              <a:rPr sz="1800">
                <a:solidFill>
                  <a:srgbClr val="DCE6F0"/>
                </a:solidFill>
              </a:rPr>
              <a:t>Advancements in genome sequencing and gene editing technologies could lead to the development of tomato cultivars with enhanced disease resistance and improved yields.</a:t>
            </a:r>
          </a:p>
          <a:p>
            <a:pPr/>
            <a:r>
              <a:rPr sz="1800">
                <a:solidFill>
                  <a:srgbClr val="DCE6F0"/>
                </a:solidFill>
              </a:rPr>
              <a:t>Collaborative international initiatives are underway to establish seed banks and germplasm collections to safeguard the genetic resources of the tomato plant for future generations.</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